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03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84" y="2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73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280160" cy="12801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58368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SentiArab-LEV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Sentiment Analysis Using Classical ML, CAMeL-BERT &amp; GPT-4o-mini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291840"/>
            <a:ext cx="50292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9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Jinan Ghannam |  Natural Language Processing  |  May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977640"/>
            <a:ext cx="192024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8"/>
          <p:cNvSpPr/>
          <p:nvPr/>
        </p:nvSpPr>
        <p:spPr>
          <a:xfrm>
            <a:off x="457200" y="3977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Dataset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78608" y="3977640"/>
            <a:ext cx="192024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3" name="Text 10"/>
          <p:cNvSpPr/>
          <p:nvPr/>
        </p:nvSpPr>
        <p:spPr>
          <a:xfrm>
            <a:off x="2578608" y="3977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0016" y="3977640"/>
            <a:ext cx="192024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Text 12"/>
          <p:cNvSpPr/>
          <p:nvPr/>
        </p:nvSpPr>
        <p:spPr>
          <a:xfrm>
            <a:off x="4700016" y="3977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21424" y="3977640"/>
            <a:ext cx="192024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7" name="Text 14"/>
          <p:cNvSpPr/>
          <p:nvPr/>
        </p:nvSpPr>
        <p:spPr>
          <a:xfrm>
            <a:off x="6821424" y="3977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</a:t>
            </a:r>
            <a:endParaRPr lang="en-US" sz="10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031B4981-7151-AD0A-6AD3-245AB64C9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9" y="672436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225296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Shape 4"/>
          <p:cNvSpPr/>
          <p:nvPr/>
        </p:nvSpPr>
        <p:spPr>
          <a:xfrm>
            <a:off x="457200" y="13624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57" y="1416358"/>
            <a:ext cx="354129" cy="3541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07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05840" y="1545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0040" y="207568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1" name="Shape 8"/>
          <p:cNvSpPr/>
          <p:nvPr/>
        </p:nvSpPr>
        <p:spPr>
          <a:xfrm>
            <a:off x="457200" y="2203704"/>
            <a:ext cx="457200" cy="4572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" y="2253434"/>
            <a:ext cx="339452" cy="3394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05840" y="2386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20040" y="291693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6" name="Shape 12"/>
          <p:cNvSpPr/>
          <p:nvPr/>
        </p:nvSpPr>
        <p:spPr>
          <a:xfrm>
            <a:off x="457200" y="304495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" y="3113932"/>
            <a:ext cx="337526" cy="3375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2990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05840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Methods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320040" y="375818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1" name="Shape 16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" y="3970421"/>
            <a:ext cx="303998" cy="3039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8313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0584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754880" y="12344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6" name="Shape 20"/>
          <p:cNvSpPr/>
          <p:nvPr/>
        </p:nvSpPr>
        <p:spPr>
          <a:xfrm>
            <a:off x="4892040" y="136245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4444" y="1438095"/>
            <a:ext cx="332392" cy="3323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1307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440680" y="15453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4754880" y="207568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31" name="Shape 24"/>
          <p:cNvSpPr/>
          <p:nvPr/>
        </p:nvSpPr>
        <p:spPr>
          <a:xfrm>
            <a:off x="4892040" y="220370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2356" y="2294020"/>
            <a:ext cx="339451" cy="33945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440680" y="2386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4754880" y="291693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36" name="Shape 28"/>
          <p:cNvSpPr/>
          <p:nvPr/>
        </p:nvSpPr>
        <p:spPr>
          <a:xfrm>
            <a:off x="4892040" y="304495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6771" y="3137194"/>
            <a:ext cx="330467" cy="33046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440680" y="2990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5440680" y="3227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PROBLEM &amp; 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Arabic Sentiment Analysis Is Hard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914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Text 5"/>
          <p:cNvSpPr/>
          <p:nvPr/>
        </p:nvSpPr>
        <p:spPr>
          <a:xfrm>
            <a:off x="530352" y="11521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Richness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Arabic root generates hundreds of inflected forms — a single verb can have 50+ conjugations.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91440" cy="7772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530352" y="2066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Diversity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359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Levantine, Egyptian, Gulf, Moroccan dialects differ significantly from MSA — and from each other.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91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Text 13"/>
          <p:cNvSpPr/>
          <p:nvPr/>
        </p:nvSpPr>
        <p:spPr>
          <a:xfrm>
            <a:off x="530352" y="29809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Social 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273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inconsistencies, emojis, code-switching, repeated characters, and abbreviations are common.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5029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914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9" name="Text 17"/>
          <p:cNvSpPr/>
          <p:nvPr/>
        </p:nvSpPr>
        <p:spPr>
          <a:xfrm>
            <a:off x="530352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NLP Resources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187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 tools and large labeled datasets lag significantly behind English equivalents.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1097280"/>
            <a:ext cx="324612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2" name="Shape 20"/>
          <p:cNvSpPr/>
          <p:nvPr/>
        </p:nvSpPr>
        <p:spPr>
          <a:xfrm>
            <a:off x="6812280" y="1234440"/>
            <a:ext cx="822960" cy="8229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373365"/>
            <a:ext cx="594360" cy="5943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669280" y="21488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669280" y="260604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SentiArab-LEV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 complete pipeline combining classical ML, transformer fine-tuning, and LLM comparison for 3-class Arabic sentiment analysis on 100K real reviews.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106424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25196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Arabic Reviews — Perfectly Balanced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Arabic user-generated review dataset with 3 sentiment classes from Kaggle by Ahmed Gamel Waly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0972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99,999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1" name="Shape 9"/>
          <p:cNvSpPr/>
          <p:nvPr/>
        </p:nvSpPr>
        <p:spPr>
          <a:xfrm>
            <a:off x="3108960" y="1188720"/>
            <a:ext cx="109728" cy="10972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2" name="Text 10"/>
          <p:cNvSpPr/>
          <p:nvPr/>
        </p:nvSpPr>
        <p:spPr>
          <a:xfrm>
            <a:off x="3291840" y="12984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1810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(80%)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97880" y="118872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5" name="Shape 13"/>
          <p:cNvSpPr/>
          <p:nvPr/>
        </p:nvSpPr>
        <p:spPr>
          <a:xfrm>
            <a:off x="5897880" y="1188720"/>
            <a:ext cx="10972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 (20%)</a:t>
            </a:r>
            <a:endParaRPr lang="en-US" sz="10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68880"/>
            <a:ext cx="4114800" cy="24231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617720" y="25146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0" name="Shape 17"/>
          <p:cNvSpPr/>
          <p:nvPr/>
        </p:nvSpPr>
        <p:spPr>
          <a:xfrm>
            <a:off x="4736592" y="2615184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1" name="Text 18"/>
          <p:cNvSpPr/>
          <p:nvPr/>
        </p:nvSpPr>
        <p:spPr>
          <a:xfrm>
            <a:off x="530352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0352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~33,333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0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17720" y="3291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5" name="Shape 22"/>
          <p:cNvSpPr/>
          <p:nvPr/>
        </p:nvSpPr>
        <p:spPr>
          <a:xfrm>
            <a:off x="4736592" y="339242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6" name="Text 23"/>
          <p:cNvSpPr/>
          <p:nvPr/>
        </p:nvSpPr>
        <p:spPr>
          <a:xfrm>
            <a:off x="5303520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0352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~33,333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17720" y="40690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30" name="Shape 27"/>
          <p:cNvSpPr/>
          <p:nvPr/>
        </p:nvSpPr>
        <p:spPr>
          <a:xfrm>
            <a:off x="4736592" y="416966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1" name="Text 28"/>
          <p:cNvSpPr/>
          <p:nvPr/>
        </p:nvSpPr>
        <p:spPr>
          <a:xfrm>
            <a:off x="5303520" y="41239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03520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~33,333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0" y="4270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414016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PIPELINE &amp; 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984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Shape 4"/>
          <p:cNvSpPr/>
          <p:nvPr/>
        </p:nvSpPr>
        <p:spPr>
          <a:xfrm>
            <a:off x="694944" y="1371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Text 5"/>
          <p:cNvSpPr/>
          <p:nvPr/>
        </p:nvSpPr>
        <p:spPr>
          <a:xfrm>
            <a:off x="69494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22585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Alef/Ya unification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Tatweel &amp; diacritics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72768" y="2258568"/>
            <a:ext cx="164592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1572768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1234440"/>
            <a:ext cx="12984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3" name="Shape 11"/>
          <p:cNvSpPr/>
          <p:nvPr/>
        </p:nvSpPr>
        <p:spPr>
          <a:xfrm>
            <a:off x="2157984" y="1371600"/>
            <a:ext cx="457200" cy="4572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4" name="Text 12"/>
          <p:cNvSpPr/>
          <p:nvPr/>
        </p:nvSpPr>
        <p:spPr>
          <a:xfrm>
            <a:off x="215798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92224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92224" y="22585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emojis,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punctuation, numbers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35808" y="2258568"/>
            <a:ext cx="164592" cy="36576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8" name="Text 16"/>
          <p:cNvSpPr/>
          <p:nvPr/>
        </p:nvSpPr>
        <p:spPr>
          <a:xfrm>
            <a:off x="3035808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0" y="1234440"/>
            <a:ext cx="12984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0" name="Shape 18"/>
          <p:cNvSpPr/>
          <p:nvPr/>
        </p:nvSpPr>
        <p:spPr>
          <a:xfrm>
            <a:off x="3621024" y="13716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1" name="Text 19"/>
          <p:cNvSpPr/>
          <p:nvPr/>
        </p:nvSpPr>
        <p:spPr>
          <a:xfrm>
            <a:off x="362102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55264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55264" y="22585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&amp; sentence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98848" y="2258568"/>
            <a:ext cx="16459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5" name="Text 23"/>
          <p:cNvSpPr/>
          <p:nvPr/>
        </p:nvSpPr>
        <p:spPr>
          <a:xfrm>
            <a:off x="4498848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12984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7" name="Shape 25"/>
          <p:cNvSpPr/>
          <p:nvPr/>
        </p:nvSpPr>
        <p:spPr>
          <a:xfrm>
            <a:off x="5084064" y="13716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8" name="Text 26"/>
          <p:cNvSpPr/>
          <p:nvPr/>
        </p:nvSpPr>
        <p:spPr>
          <a:xfrm>
            <a:off x="508406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18304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/ Lem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22585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ISRI Stemmer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lemmatization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root forms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61888" y="2258568"/>
            <a:ext cx="16459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2" name="Text 30"/>
          <p:cNvSpPr/>
          <p:nvPr/>
        </p:nvSpPr>
        <p:spPr>
          <a:xfrm>
            <a:off x="5961888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1234440"/>
            <a:ext cx="12984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34" name="Shape 32"/>
          <p:cNvSpPr/>
          <p:nvPr/>
        </p:nvSpPr>
        <p:spPr>
          <a:xfrm>
            <a:off x="6547104" y="137160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5" name="Text 33"/>
          <p:cNvSpPr/>
          <p:nvPr/>
        </p:nvSpPr>
        <p:spPr>
          <a:xfrm>
            <a:off x="654710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1344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+ NER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81344" y="22585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tagging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entity flags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(CAMeL Tools)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424928" y="2258568"/>
            <a:ext cx="164592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9" name="Text 37"/>
          <p:cNvSpPr/>
          <p:nvPr/>
        </p:nvSpPr>
        <p:spPr>
          <a:xfrm>
            <a:off x="7424928" y="210312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589520" y="1234440"/>
            <a:ext cx="129844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41" name="Shape 39"/>
          <p:cNvSpPr/>
          <p:nvPr/>
        </p:nvSpPr>
        <p:spPr>
          <a:xfrm>
            <a:off x="8010144" y="137160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2" name="Text 40"/>
          <p:cNvSpPr/>
          <p:nvPr/>
        </p:nvSpPr>
        <p:spPr>
          <a:xfrm>
            <a:off x="801014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44384" y="19385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44384" y="22585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&amp; bigrams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 &amp; NER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657600"/>
            <a:ext cx="859536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46" name="Shape 44"/>
          <p:cNvSpPr/>
          <p:nvPr/>
        </p:nvSpPr>
        <p:spPr>
          <a:xfrm>
            <a:off x="411480" y="3767328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840480"/>
            <a:ext cx="365760" cy="36576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005840" y="374904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Steps? Arabic morphology creates excessive vocabulary sparsity without normalization and stemming. POS tagging identifies sentiment-bearing adjectives and adverbs for weighted feature extraction. NER flags add contextual signals about brand/location mentions.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98755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MODELS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Across Three Paradigms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1572768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307592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9496" y="1984248"/>
            <a:ext cx="1005840" cy="256032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9" name="Text 6"/>
          <p:cNvSpPr/>
          <p:nvPr/>
        </p:nvSpPr>
        <p:spPr>
          <a:xfrm>
            <a:off x="539496" y="1984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10896" y="23134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29184" y="277063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baseline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lightweight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independence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0896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POS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93392" y="114300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4" name="Shape 11"/>
          <p:cNvSpPr/>
          <p:nvPr/>
        </p:nvSpPr>
        <p:spPr>
          <a:xfrm>
            <a:off x="1993392" y="1143000"/>
            <a:ext cx="1572768" cy="7772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76" y="1307592"/>
            <a:ext cx="457200" cy="457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276856" y="1984248"/>
            <a:ext cx="1005840" cy="256032"/>
          </a:xfrm>
          <a:prstGeom prst="rect">
            <a:avLst/>
          </a:prstGeom>
          <a:solidFill>
            <a:srgbClr val="2E5FA3">
              <a:alpha val="15000"/>
            </a:srgbClr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7" name="Text 13"/>
          <p:cNvSpPr/>
          <p:nvPr/>
        </p:nvSpPr>
        <p:spPr>
          <a:xfrm>
            <a:off x="2276856" y="1984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048256" y="23134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2066544" y="277063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discriminative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weights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TF-IDF baseline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048256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POS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730752" y="114300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2" name="Shape 18"/>
          <p:cNvSpPr/>
          <p:nvPr/>
        </p:nvSpPr>
        <p:spPr>
          <a:xfrm>
            <a:off x="3730752" y="1143000"/>
            <a:ext cx="157276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307592"/>
            <a:ext cx="457200" cy="457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014216" y="1984248"/>
            <a:ext cx="1005840" cy="25603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5" name="Text 20"/>
          <p:cNvSpPr/>
          <p:nvPr/>
        </p:nvSpPr>
        <p:spPr>
          <a:xfrm>
            <a:off x="4014216" y="1984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85616" y="23134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3803904" y="277063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Max-margin classifier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 sparse 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 result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785616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POS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468112" y="114300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30" name="Shape 25"/>
          <p:cNvSpPr/>
          <p:nvPr/>
        </p:nvSpPr>
        <p:spPr>
          <a:xfrm>
            <a:off x="5468112" y="1143000"/>
            <a:ext cx="157276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307592"/>
            <a:ext cx="457200" cy="4572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5852160" y="1984248"/>
            <a:ext cx="804672" cy="25603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3" name="Text 27"/>
          <p:cNvSpPr/>
          <p:nvPr/>
        </p:nvSpPr>
        <p:spPr>
          <a:xfrm>
            <a:off x="5852160" y="19842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5522976" y="23134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CAMeL-BERT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5541264" y="277063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pre-trained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80K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522976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fine-tune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205472" y="1143000"/>
            <a:ext cx="157276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38" name="Shape 32"/>
          <p:cNvSpPr/>
          <p:nvPr/>
        </p:nvSpPr>
        <p:spPr>
          <a:xfrm>
            <a:off x="7205472" y="1143000"/>
            <a:ext cx="157276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1307592"/>
            <a:ext cx="457200" cy="4572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7589520" y="1984248"/>
            <a:ext cx="804672" cy="25603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1" name="Text 34"/>
          <p:cNvSpPr/>
          <p:nvPr/>
        </p:nvSpPr>
        <p:spPr>
          <a:xfrm>
            <a:off x="7589520" y="19842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7260336" y="23134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7278624" y="2770632"/>
            <a:ext cx="1426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sample evaluation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 constrained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7260336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samples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RESULTS &amp;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372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Macro F1 across all 5 models on 20,000 test samples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15189"/>
              </p:ext>
            </p:extLst>
          </p:nvPr>
        </p:nvGraphicFramePr>
        <p:xfrm>
          <a:off x="320040" y="1259014"/>
          <a:ext cx="8503920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</a:t>
                      </a:r>
                      <a:r>
                        <a:rPr lang="en-US" sz="12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CAMeL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-BERT</a:t>
                      </a: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LB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GPT-5.5</a:t>
                      </a:r>
                      <a:r>
                        <a:rPr lang="en-LB" sz="1200" b="0" dirty="0">
                          <a:effectLst/>
                          <a:latin typeface="+mn-lt"/>
                        </a:rPr>
                        <a:t> </a:t>
                      </a:r>
                      <a:endParaRPr lang="en-US" sz="1200" b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58.67%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(zero-shot)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Bayes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53.1%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0416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</a:t>
            </a:r>
            <a:r>
              <a:rPr lang="en-LB" sz="1000" i="1" dirty="0">
                <a:solidFill>
                  <a:schemeClr val="tx2"/>
                </a:solidFill>
              </a:rPr>
              <a:t>GPT-5.5</a:t>
            </a: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evaluated on 150-sample subset only due to API cost — not directly comparable to other models.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RESULTS &amp;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Comparison Across All Models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1285" y="1430939"/>
            <a:ext cx="3840480" cy="31867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70996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(F1)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924125" y="471958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Only (Macro F1)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141087-DF85-6250-0304-97E92A049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22" y="1430940"/>
            <a:ext cx="4640303" cy="3186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RESULTS &amp;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Classical ML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517904"/>
            <a:ext cx="2596896" cy="2057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65760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9" name="Text 6"/>
          <p:cNvSpPr/>
          <p:nvPr/>
        </p:nvSpPr>
        <p:spPr>
          <a:xfrm>
            <a:off x="502920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53.1%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91640" y="3657600"/>
            <a:ext cx="1005840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8"/>
          <p:cNvSpPr/>
          <p:nvPr/>
        </p:nvSpPr>
        <p:spPr>
          <a:xfrm>
            <a:off x="1691640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0.53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3" name="Text 10"/>
          <p:cNvSpPr/>
          <p:nvPr/>
        </p:nvSpPr>
        <p:spPr>
          <a:xfrm>
            <a:off x="3264408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7560" y="1517904"/>
            <a:ext cx="2596896" cy="2057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47288" y="365760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Text 12"/>
          <p:cNvSpPr/>
          <p:nvPr/>
        </p:nvSpPr>
        <p:spPr>
          <a:xfrm>
            <a:off x="3447288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54.6%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36008" y="3657600"/>
            <a:ext cx="1005840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8" name="Text 14"/>
          <p:cNvSpPr/>
          <p:nvPr/>
        </p:nvSpPr>
        <p:spPr>
          <a:xfrm>
            <a:off x="4636008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0.55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08776" y="109728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0" name="Text 16"/>
          <p:cNvSpPr/>
          <p:nvPr/>
        </p:nvSpPr>
        <p:spPr>
          <a:xfrm>
            <a:off x="6208776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81928" y="1517904"/>
            <a:ext cx="2596896" cy="20574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391656" y="3657600"/>
            <a:ext cx="100584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3" name="Text 18"/>
          <p:cNvSpPr/>
          <p:nvPr/>
        </p:nvSpPr>
        <p:spPr>
          <a:xfrm>
            <a:off x="6391656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54.3%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580376" y="3657600"/>
            <a:ext cx="1005840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5" name="Text 20"/>
          <p:cNvSpPr/>
          <p:nvPr/>
        </p:nvSpPr>
        <p:spPr>
          <a:xfrm>
            <a:off x="7580376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0.54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class is the hardest to classify across all 3 models — recall ≈45-48%. Negative class has the highest recall (~59%).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RESULTS &amp;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Transformer &amp; LLM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CAMeL-BERT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4022001"/>
            <a:ext cx="14173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9" name="Text 6"/>
          <p:cNvSpPr/>
          <p:nvPr/>
        </p:nvSpPr>
        <p:spPr>
          <a:xfrm>
            <a:off x="868680" y="401261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69.91%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4022001"/>
            <a:ext cx="1417320" cy="3200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8"/>
          <p:cNvSpPr/>
          <p:nvPr/>
        </p:nvSpPr>
        <p:spPr>
          <a:xfrm>
            <a:off x="2468880" y="401261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0.70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41148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3" name="Text 10"/>
          <p:cNvSpPr/>
          <p:nvPr/>
        </p:nvSpPr>
        <p:spPr>
          <a:xfrm>
            <a:off x="466344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51120" y="4012610"/>
            <a:ext cx="14173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Text 12"/>
          <p:cNvSpPr/>
          <p:nvPr/>
        </p:nvSpPr>
        <p:spPr>
          <a:xfrm>
            <a:off x="5151120" y="401261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58.67%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751320" y="4012610"/>
            <a:ext cx="141732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8" name="Text 14"/>
          <p:cNvSpPr/>
          <p:nvPr/>
        </p:nvSpPr>
        <p:spPr>
          <a:xfrm>
            <a:off x="6751320" y="401261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n=150 only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0D46141-B17E-756A-B3AF-02BAE5507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57" y="1429304"/>
            <a:ext cx="2825201" cy="25437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90B1F3A-EACC-3507-F362-586AB9733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516" y="1408107"/>
            <a:ext cx="2755969" cy="25649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RESULTS &amp;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Discussion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Shape 4"/>
          <p:cNvSpPr/>
          <p:nvPr/>
        </p:nvSpPr>
        <p:spPr>
          <a:xfrm>
            <a:off x="438912" y="134416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1732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435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LB" sz="1400" b="1" dirty="0">
                <a:solidFill>
                  <a:schemeClr val="tx2"/>
                </a:solidFill>
              </a:rPr>
              <a:t>Classical ML: competitive but outclassed</a:t>
            </a:r>
            <a:endParaRPr lang="en-US" sz="1250" b="1" dirty="0">
              <a:solidFill>
                <a:schemeClr val="tx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005840" y="15544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LB" sz="1050" dirty="0">
                <a:solidFill>
                  <a:schemeClr val="tx2"/>
                </a:solidFill>
              </a:rPr>
              <a:t>Logistic Regression (54.6%) edges out SVM (54.3%) and Naïve Bayes (53.1%). TF-IDF + POS features remain a solid baseline but fall short of transformer and LLM approaches.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" y="2103120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1" name="Shape 8"/>
          <p:cNvSpPr/>
          <p:nvPr/>
        </p:nvSpPr>
        <p:spPr>
          <a:xfrm>
            <a:off x="438912" y="22585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33172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1579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</a:t>
            </a:r>
            <a:r>
              <a:rPr lang="en-US" sz="12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-BERT </a:t>
            </a:r>
            <a:r>
              <a:rPr lang="en-LB" sz="1400" b="1" dirty="0">
                <a:solidFill>
                  <a:schemeClr val="tx2"/>
                </a:solidFill>
              </a:rPr>
              <a:t>outperforms all models</a:t>
            </a:r>
            <a:r>
              <a:rPr lang="en-LB" sz="1400" dirty="0">
                <a:solidFill>
                  <a:schemeClr val="tx2"/>
                </a:solidFill>
              </a:rPr>
              <a:t> </a:t>
            </a:r>
            <a:endParaRPr lang="en-US" sz="1250" dirty="0">
              <a:solidFill>
                <a:schemeClr val="tx2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05840" y="2468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LB" sz="1050" b="1" dirty="0">
                <a:solidFill>
                  <a:schemeClr val="tx2"/>
                </a:solidFill>
              </a:rPr>
              <a:t>CAMeL-BERT outperforms all models</a:t>
            </a:r>
            <a:r>
              <a:rPr lang="en-LB" sz="1050" dirty="0">
                <a:solidFill>
                  <a:schemeClr val="tx2"/>
                </a:solidFill>
              </a:rPr>
              <a:t> 69.91% accuracy — best across all five models. Fine-tuned on clean_text for 5 epochs on a 50K subset, CAMeL-BERT's contextual representations outperform classical TF-IDF approaches by ~15 percentage points.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0040" y="3017520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6" name="Shape 12"/>
          <p:cNvSpPr/>
          <p:nvPr/>
        </p:nvSpPr>
        <p:spPr>
          <a:xfrm>
            <a:off x="438912" y="317296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24612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0723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GPT-5.5: promising but limited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0584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LB" sz="1050" b="1" dirty="0">
                <a:solidFill>
                  <a:schemeClr val="tx2"/>
                </a:solidFill>
              </a:rPr>
              <a:t>strong zero-shot performance</a:t>
            </a:r>
            <a:r>
              <a:rPr lang="en-LB" sz="1050" dirty="0">
                <a:solidFill>
                  <a:schemeClr val="tx2"/>
                </a:solidFill>
              </a:rPr>
              <a:t> 58.67% accuracy on 150 samples using an Arabic-language prompt. Ranks second overall, outperforming all classical ML models without any task-specific training.</a:t>
            </a:r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320040" y="3931920"/>
            <a:ext cx="8503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1" name="Shape 16"/>
          <p:cNvSpPr/>
          <p:nvPr/>
        </p:nvSpPr>
        <p:spPr>
          <a:xfrm>
            <a:off x="438912" y="408736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416052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98678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class is universally hard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005840" y="4297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struggle most with Mixed sentiment. Recall 45-48% across classical models — genuinely ambiguous for both models and humans.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938528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ERROR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Models Make Mistakes?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91440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&amp; Irony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surface words hide negative intent. All models predicted Positive for sarcastic reviews.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'ممتاز كالعادة!' → classified Positive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22576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0" name="Shape 8"/>
          <p:cNvSpPr/>
          <p:nvPr/>
        </p:nvSpPr>
        <p:spPr>
          <a:xfrm>
            <a:off x="320040" y="2322576"/>
            <a:ext cx="9144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1" name="Text 9"/>
          <p:cNvSpPr/>
          <p:nvPr/>
        </p:nvSpPr>
        <p:spPr>
          <a:xfrm>
            <a:off x="502920" y="2386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Ambiguity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 = different sentiment across Levantine, Egyptian, Gulf dialects. No dialect labels in dataset.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5" name="Text 13"/>
          <p:cNvSpPr/>
          <p:nvPr/>
        </p:nvSpPr>
        <p:spPr>
          <a:xfrm>
            <a:off x="50292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positive, ends negative (or vice versa). TF-IDF averages the signals — no dominant class.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70432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8" name="Shape 16"/>
          <p:cNvSpPr/>
          <p:nvPr/>
        </p:nvSpPr>
        <p:spPr>
          <a:xfrm>
            <a:off x="4663440" y="1170432"/>
            <a:ext cx="914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9" name="Text 17"/>
          <p:cNvSpPr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Reviews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5361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token reviews lack sufficient context for all models. Higher misclassification rate than longer texts.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322576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2" name="Shape 20"/>
          <p:cNvSpPr/>
          <p:nvPr/>
        </p:nvSpPr>
        <p:spPr>
          <a:xfrm>
            <a:off x="4663440" y="2322576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23" name="Text 21"/>
          <p:cNvSpPr/>
          <p:nvPr/>
        </p:nvSpPr>
        <p:spPr>
          <a:xfrm>
            <a:off x="4846320" y="2386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68833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 within one review disrupts stemming and tokenization pipelines.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93008"/>
            <a:ext cx="411480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26" name="Shape 24"/>
          <p:cNvSpPr/>
          <p:nvPr/>
        </p:nvSpPr>
        <p:spPr>
          <a:xfrm>
            <a:off x="4800600" y="3611880"/>
            <a:ext cx="457200" cy="4572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3685032"/>
            <a:ext cx="310896" cy="31089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349240" y="3611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Advantage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54880" y="39776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CAMeL-BERT and GPT-4o-mini handled dialectal ambiguity and long mixed reviews better than classical models — but neither resolved sarcasm.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3127248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</a:rPr>
              <a:t>CONCLUSION &amp; 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233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00253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constraints limited CAMeL-BERT training epochs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49631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tested on only 150 samples (not comparable)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99008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dialect labels — cannot analyze dialect-level 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48386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sarcasm detection component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97764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 tools lag English alternatives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4251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LB"/>
          </a:p>
        </p:txBody>
      </p:sp>
      <p:sp>
        <p:nvSpPr>
          <p:cNvPr id="15" name="Shape 13"/>
          <p:cNvSpPr/>
          <p:nvPr/>
        </p:nvSpPr>
        <p:spPr>
          <a:xfrm>
            <a:off x="4572000" y="1143000"/>
            <a:ext cx="42519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Text 14"/>
          <p:cNvSpPr/>
          <p:nvPr/>
        </p:nvSpPr>
        <p:spPr>
          <a:xfrm>
            <a:off x="4572000" y="11430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200253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CAMeL-BERT fine-tuning with adequate GPU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249631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 &amp; XLM-RoBERTa comparison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299008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identification as preprocessing step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48386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sarcasm detection module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39776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Aspect-based sentiment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2E5FA3">
              <a:alpha val="20000"/>
            </a:srgbClr>
          </a:solidFill>
          <a:ln w="12700">
            <a:solidFill>
              <a:srgbClr val="2E5FA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SentiArab-LEV: What We Built &amp; Learned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457200" cy="4572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627632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+ good Arabic features = competitive baseline (Logistic Regression: 54.6%, F1: 0.55)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457200" cy="4572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need sufficient compute — CAMeL-BERT underperformed due to GPU constraints, not model failure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3" name="Text 11"/>
          <p:cNvSpPr/>
          <p:nvPr/>
        </p:nvSpPr>
        <p:spPr>
          <a:xfrm>
            <a:off x="4572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163824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(GPT-5.5) show zero-shot promise but introduce API cost and comparability challenges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LB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sentiment class remains universally hard — sarcasm and dialect ambiguity are unsolved challenges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Jinan |  NLP Course —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1052</Words>
  <Application>Microsoft Macintosh PowerPoint</Application>
  <PresentationFormat>On-screen Show (16:9)</PresentationFormat>
  <Paragraphs>246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SentiArab-LEV</dc:title>
  <dc:subject>PptxGenJS Presentation</dc:subject>
  <dc:creator>Jinan &amp; Team</dc:creator>
  <cp:lastModifiedBy>Jinan Ghannam</cp:lastModifiedBy>
  <cp:revision>11</cp:revision>
  <dcterms:created xsi:type="dcterms:W3CDTF">2026-05-24T12:39:36Z</dcterms:created>
  <dcterms:modified xsi:type="dcterms:W3CDTF">2026-06-01T19:07:17Z</dcterms:modified>
</cp:coreProperties>
</file>